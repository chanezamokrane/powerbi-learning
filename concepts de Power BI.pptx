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14287500"/>
  <p:notesSz cx="6858000" cy="9144000"/>
  <p:embeddedFontLst>
    <p:embeddedFont>
      <p:font typeface="Playfair Display Italics" charset="1" panose="00000000000000000000"/>
      <p:regular r:id="rId17"/>
    </p:embeddedFont>
    <p:embeddedFont>
      <p:font typeface="Playfair Display" charset="1" panose="00000000000000000000"/>
      <p:regular r:id="rId18"/>
    </p:embeddedFont>
    <p:embeddedFont>
      <p:font typeface="Roboto Condensed Bold" charset="1" panose="02000000000000000000"/>
      <p:regular r:id="rId19"/>
    </p:embeddedFont>
    <p:embeddedFont>
      <p:font typeface="Roboto Condensed" charset="1" panose="02000000000000000000"/>
      <p:regular r:id="rId20"/>
    </p:embeddedFont>
    <p:embeddedFont>
      <p:font typeface="Roboto Bold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430000" cy="14287500"/>
          </a:xfrm>
          <a:custGeom>
            <a:avLst/>
            <a:gdLst/>
            <a:ahLst/>
            <a:cxnLst/>
            <a:rect r="r" b="b" t="t" l="l"/>
            <a:pathLst>
              <a:path h="14287500" w="114300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5324" t="0" r="-3532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41849" y="11647279"/>
            <a:ext cx="741741" cy="424815"/>
          </a:xfrm>
          <a:custGeom>
            <a:avLst/>
            <a:gdLst/>
            <a:ahLst/>
            <a:cxnLst/>
            <a:rect r="r" b="b" t="t" l="l"/>
            <a:pathLst>
              <a:path h="424815" w="741741">
                <a:moveTo>
                  <a:pt x="0" y="0"/>
                </a:moveTo>
                <a:lnTo>
                  <a:pt x="741741" y="0"/>
                </a:lnTo>
                <a:lnTo>
                  <a:pt x="741741" y="424815"/>
                </a:lnTo>
                <a:lnTo>
                  <a:pt x="0" y="4248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1548" y="2510900"/>
            <a:ext cx="8538543" cy="130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0"/>
              </a:lnSpc>
            </a:pPr>
            <a:r>
              <a:rPr lang="en-US" sz="9100" i="true" spc="-728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</a:t>
            </a:r>
            <a:r>
              <a:rPr lang="en-US" sz="9100" i="true" spc="-728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ourquoi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5729" y="3765550"/>
            <a:ext cx="8538543" cy="206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0"/>
              </a:lnSpc>
            </a:pPr>
            <a:r>
              <a:rPr lang="en-US" sz="7300" spc="-438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Power BI est demandé </a:t>
            </a:r>
          </a:p>
          <a:p>
            <a:pPr algn="l">
              <a:lnSpc>
                <a:spcPts val="8030"/>
              </a:lnSpc>
            </a:pPr>
            <a:r>
              <a:rPr lang="en-US" sz="7300" spc="-438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 entreprise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READ MORE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3354" y="6130663"/>
            <a:ext cx="8406737" cy="483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4860"/>
              </a:lnSpc>
              <a:buFont typeface="Arial"/>
              <a:buChar char="•"/>
            </a:pPr>
            <a:r>
              <a:rPr lang="en-US" sz="2700" spc="10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Power BI est</a:t>
            </a:r>
            <a:r>
              <a:rPr lang="en-US" sz="2700" spc="10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un ensemble d’outils de Business Intelligence (BI) qui permet de collecter, transformer, modéliser et visualiser des données.</a:t>
            </a:r>
          </a:p>
          <a:p>
            <a:pPr algn="l">
              <a:lnSpc>
                <a:spcPts val="4860"/>
              </a:lnSpc>
            </a:pPr>
          </a:p>
          <a:p>
            <a:pPr algn="l" marL="582930" indent="-291465" lvl="1">
              <a:lnSpc>
                <a:spcPts val="4860"/>
              </a:lnSpc>
              <a:buFont typeface="Arial"/>
              <a:buChar char="•"/>
            </a:pPr>
            <a:r>
              <a:rPr lang="en-US" sz="2700" spc="10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Il transforme des données brutes en informations exploitables (insights) pour soutenir les décisions stratégiques et opérationnelles.</a:t>
            </a:r>
          </a:p>
          <a:p>
            <a:pPr algn="l">
              <a:lnSpc>
                <a:spcPts val="48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61548" y="12751117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430000" cy="14287500"/>
          </a:xfrm>
          <a:custGeom>
            <a:avLst/>
            <a:gdLst/>
            <a:ahLst/>
            <a:cxnLst/>
            <a:rect r="r" b="b" t="t" l="l"/>
            <a:pathLst>
              <a:path h="14287500" w="114300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5324" t="0" r="-3532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2758" y="896460"/>
            <a:ext cx="714664" cy="730605"/>
          </a:xfrm>
          <a:custGeom>
            <a:avLst/>
            <a:gdLst/>
            <a:ahLst/>
            <a:cxnLst/>
            <a:rect r="r" b="b" t="t" l="l"/>
            <a:pathLst>
              <a:path h="730605" w="714664">
                <a:moveTo>
                  <a:pt x="0" y="0"/>
                </a:moveTo>
                <a:lnTo>
                  <a:pt x="714665" y="0"/>
                </a:lnTo>
                <a:lnTo>
                  <a:pt x="714665" y="730605"/>
                </a:lnTo>
                <a:lnTo>
                  <a:pt x="0" y="73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62275" y="1769221"/>
            <a:ext cx="1275632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1599" spc="15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</a:t>
            </a:r>
            <a:r>
              <a:rPr lang="en-US" b="true" sz="1599" spc="15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ORCELLE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5729" y="6202924"/>
            <a:ext cx="7525239" cy="235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5"/>
              </a:lnSpc>
            </a:pPr>
            <a:r>
              <a:rPr lang="en-US" sz="8331" spc="-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entreprises avec la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5729" y="3456444"/>
            <a:ext cx="7525239" cy="278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24"/>
              </a:lnSpc>
              <a:spcBef>
                <a:spcPct val="0"/>
              </a:spcBef>
            </a:pPr>
            <a:r>
              <a:rPr lang="en-US" sz="9840" i="true" spc="-787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Pr</a:t>
            </a:r>
            <a:r>
              <a:rPr lang="en-US" sz="9840" i="true" spc="-787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in</a:t>
            </a:r>
            <a:r>
              <a:rPr lang="en-US" sz="9840" i="true" spc="-787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cipaux</a:t>
            </a:r>
            <a:r>
              <a:rPr lang="en-US" sz="9840" i="true" spc="-787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 défi</a:t>
            </a:r>
            <a:r>
              <a:rPr lang="en-US" sz="9840" i="true" spc="-787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s des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430000" cy="14287500"/>
          </a:xfrm>
          <a:custGeom>
            <a:avLst/>
            <a:gdLst/>
            <a:ahLst/>
            <a:cxnLst/>
            <a:rect r="r" b="b" t="t" l="l"/>
            <a:pathLst>
              <a:path h="14287500" w="114300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5324" t="0" r="-3532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8207" y="7081783"/>
            <a:ext cx="8406737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Suiv</a:t>
            </a: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difficile en temps réel.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Prévision des évolutions futures limitée.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48207" y="5489915"/>
            <a:ext cx="9448522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spc="-38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mesurer les performances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354" y="3974313"/>
            <a:ext cx="88116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i="true" spc="-640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Diffic</a:t>
            </a:r>
            <a:r>
              <a:rPr lang="en-US" sz="8000" i="true" spc="-640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u</a:t>
            </a:r>
            <a:r>
              <a:rPr lang="en-US" sz="8000" i="true" spc="-640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lté à antic</a:t>
            </a:r>
            <a:r>
              <a:rPr lang="en-US" sz="8000" i="true" spc="-640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i</a:t>
            </a:r>
            <a:r>
              <a:rPr lang="en-US" sz="8000" i="true" spc="-640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per </a:t>
            </a:r>
            <a:r>
              <a:rPr lang="en-US" sz="8000" i="true" spc="-640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et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8207" y="7081783"/>
            <a:ext cx="8656841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Manque</a:t>
            </a: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d’informations fiables et à jour.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Décisions parfois prises sur des données obsolètes.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48207" y="5489915"/>
            <a:ext cx="9448522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spc="-38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sur l’intuition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3354" y="3974313"/>
            <a:ext cx="88116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i="true" spc="-640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Décisions bas</a:t>
            </a:r>
            <a:r>
              <a:rPr lang="en-US" sz="8000" i="true" spc="-640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é</a:t>
            </a:r>
            <a:r>
              <a:rPr lang="en-US" sz="8000" i="true" spc="-640" strike="noStrike" u="none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8207" y="7081783"/>
            <a:ext cx="8656841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Données</a:t>
            </a: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présentées de manière brute.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Analyse complexe et peu accessible.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48207" y="5489915"/>
            <a:ext cx="9448522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spc="-38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et d’insights clairs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3354" y="3974313"/>
            <a:ext cx="88116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i="true" spc="-640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Manque de visibilité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8207" y="7081783"/>
            <a:ext cx="8656841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Données</a:t>
            </a: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réparties dans plusieurs systèmes (Excel, ERP, CRM, etc.).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Vue d’ensemble difficile.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48207" y="5489915"/>
            <a:ext cx="9448522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spc="-38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et difficiles à exploiter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3354" y="3974313"/>
            <a:ext cx="88116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i="true" spc="-640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Données dispersées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8207" y="7081783"/>
            <a:ext cx="8656841" cy="379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Cent</a:t>
            </a: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raliser et fiabiliser les données.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Créer des indicateurs (KPI) et des tableaux de bord.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Mettre en évidence des tendances, écarts, anomalies.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Aider au pilotage et à la prise de décision.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48207" y="5489915"/>
            <a:ext cx="9448522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spc="-38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(de la donnée à la décision)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3354" y="3974313"/>
            <a:ext cx="88116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i="true" spc="-640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Rôle de la BI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30159" y="5375260"/>
            <a:ext cx="8656841" cy="634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799" spc="111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Power BI Desktop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</a:t>
            </a: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ruction des rapports.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Connexion aux sources de données.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Transformation (Power Query) et modèle.</a:t>
            </a:r>
          </a:p>
          <a:p>
            <a:pPr algn="l">
              <a:lnSpc>
                <a:spcPts val="5039"/>
              </a:lnSpc>
            </a:pPr>
            <a:r>
              <a:rPr lang="en-US" b="true" sz="2799" spc="11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Power BI Service (en ligne)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Publication et partage des rapports.</a:t>
            </a:r>
          </a:p>
          <a:p>
            <a:pPr algn="l" marL="604519" indent="-302260" lvl="1">
              <a:lnSpc>
                <a:spcPts val="5039"/>
              </a:lnSpc>
              <a:buFont typeface="Arial"/>
              <a:buChar char="•"/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Tableaux de bord (dashboards), espaces de travail.</a:t>
            </a:r>
          </a:p>
          <a:p>
            <a:pPr algn="l">
              <a:lnSpc>
                <a:spcPts val="5039"/>
              </a:lnSpc>
            </a:pPr>
            <a:r>
              <a:rPr lang="en-US" b="true" sz="2799" spc="111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Power BI Mobile</a:t>
            </a:r>
          </a:p>
          <a:p>
            <a:pPr algn="l">
              <a:lnSpc>
                <a:spcPts val="5039"/>
              </a:lnSpc>
            </a:pPr>
            <a:r>
              <a:rPr lang="en-US" sz="2799" spc="1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Consultation des rapports sur mobile.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09153" y="3774375"/>
            <a:ext cx="9448522" cy="9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spc="-38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 Power BI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9153" y="2386799"/>
            <a:ext cx="8811694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i="true" spc="-640">
                <a:solidFill>
                  <a:srgbClr val="FC4C0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Principaux composants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430000" cy="14287500"/>
          </a:xfrm>
          <a:custGeom>
            <a:avLst/>
            <a:gdLst/>
            <a:ahLst/>
            <a:cxnLst/>
            <a:rect r="r" b="b" t="t" l="l"/>
            <a:pathLst>
              <a:path h="14287500" w="114300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5324" t="0" r="-3532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81350" y="5769316"/>
            <a:ext cx="3429000" cy="34290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81350" y="6722989"/>
            <a:ext cx="2941458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 spc="-25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Power BI (Microsoft)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3354" y="3111109"/>
            <a:ext cx="4340212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</a:t>
            </a: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NCIPAUX ACTEURS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86525" y="3863584"/>
            <a:ext cx="3429000" cy="34290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730296" y="5299002"/>
            <a:ext cx="2941458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 spc="-25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Tableau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86525" y="7675048"/>
            <a:ext cx="3429000" cy="34290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730296" y="8529440"/>
            <a:ext cx="29414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 spc="-25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Qlik (Qlik Sense / QlikView)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430000" cy="14287500"/>
          </a:xfrm>
          <a:custGeom>
            <a:avLst/>
            <a:gdLst/>
            <a:ahLst/>
            <a:cxnLst/>
            <a:rect r="r" b="b" t="t" l="l"/>
            <a:pathLst>
              <a:path h="14287500" w="114300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5324" t="0" r="-3532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81350" y="5769316"/>
            <a:ext cx="3429000" cy="34290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81350" y="6722989"/>
            <a:ext cx="2941458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 spc="-25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Collecte des données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3354" y="3111109"/>
            <a:ext cx="4340212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POWER</a:t>
            </a: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QUERY (ETL)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86525" y="3863584"/>
            <a:ext cx="3429000" cy="34290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730296" y="4717977"/>
            <a:ext cx="29414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 spc="-25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Transformation des données.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86525" y="7675048"/>
            <a:ext cx="3429000" cy="34290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730296" y="8529440"/>
            <a:ext cx="2941458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200" spc="-25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Chargement dans Power BI.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430000" cy="14287500"/>
          </a:xfrm>
          <a:custGeom>
            <a:avLst/>
            <a:gdLst/>
            <a:ahLst/>
            <a:cxnLst/>
            <a:rect r="r" b="b" t="t" l="l"/>
            <a:pathLst>
              <a:path h="14287500" w="11430000">
                <a:moveTo>
                  <a:pt x="0" y="0"/>
                </a:moveTo>
                <a:lnTo>
                  <a:pt x="11430000" y="0"/>
                </a:lnTo>
                <a:lnTo>
                  <a:pt x="11430000" y="14287500"/>
                </a:lnTo>
                <a:lnTo>
                  <a:pt x="0" y="1428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5324" t="0" r="-3532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3354" y="11494879"/>
            <a:ext cx="234849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2799" spc="279">
                <a:solidFill>
                  <a:srgbClr val="FC4C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33935">
            <a:off x="7465782" y="4659788"/>
            <a:ext cx="2462725" cy="2283618"/>
          </a:xfrm>
          <a:custGeom>
            <a:avLst/>
            <a:gdLst/>
            <a:ahLst/>
            <a:cxnLst/>
            <a:rect r="r" b="b" t="t" l="l"/>
            <a:pathLst>
              <a:path h="2283618" w="2462725">
                <a:moveTo>
                  <a:pt x="0" y="0"/>
                </a:moveTo>
                <a:lnTo>
                  <a:pt x="2462725" y="0"/>
                </a:lnTo>
                <a:lnTo>
                  <a:pt x="2462725" y="2283618"/>
                </a:lnTo>
                <a:lnTo>
                  <a:pt x="0" y="228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45729" y="4469547"/>
            <a:ext cx="5915119" cy="5983942"/>
            <a:chOff x="0" y="0"/>
            <a:chExt cx="7886825" cy="797859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44428" y="7231194"/>
              <a:ext cx="7842397" cy="747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7625"/>
              <a:ext cx="7886825" cy="5912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99"/>
                </a:lnSpc>
              </a:pPr>
              <a:r>
                <a:rPr lang="en-US" sz="3999" spc="-239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Introduction aux concepts de Power BI</a:t>
              </a:r>
            </a:p>
            <a:p>
              <a:pPr algn="l">
                <a:lnSpc>
                  <a:spcPts val="4399"/>
                </a:lnSpc>
              </a:pPr>
            </a:p>
            <a:p>
              <a:pPr algn="l">
                <a:lnSpc>
                  <a:spcPts val="4399"/>
                </a:lnSpc>
              </a:pPr>
              <a:r>
                <a:rPr lang="en-US" sz="3999" spc="-239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 Premiers éléments théoriques acquis</a:t>
              </a:r>
            </a:p>
            <a:p>
              <a:pPr algn="l">
                <a:lnSpc>
                  <a:spcPts val="4399"/>
                </a:lnSpc>
              </a:pPr>
            </a:p>
            <a:p>
              <a:pPr algn="l">
                <a:lnSpc>
                  <a:spcPts val="4399"/>
                </a:lnSpc>
              </a:pPr>
              <a:r>
                <a:rPr lang="en-US" sz="3999" spc="-239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 Approfondissement et mise en pratique en cours ...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DAG1Mhj80tk</dc:identifier>
  <dcterms:modified xsi:type="dcterms:W3CDTF">2011-08-01T06:04:30Z</dcterms:modified>
  <cp:revision>1</cp:revision>
  <dc:title>concepts de Power BI</dc:title>
</cp:coreProperties>
</file>